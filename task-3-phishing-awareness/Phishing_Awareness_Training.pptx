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42844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1B3457"/>
          </a:solidFill>
          <a:ln/>
        </p:spPr>
      </p:sp>
      <p:pic>
        <p:nvPicPr>
          <p:cNvPr id="5" name="Image 0" descr="/home/claude/phishing_deck/icon_envelope_FFB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429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3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TRAINING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4800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Protect yourself and your organization.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Cybersecurity Internship  |  Task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social-engineering attack where criminals impersonate a trusted person or organization to trick you into handing over sensitive information, clicking a malicious link, or installing malware.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42844"/>
          </a:solidFill>
          <a:ln/>
        </p:spPr>
      </p:sp>
      <p:pic>
        <p:nvPicPr>
          <p:cNvPr id="6" name="Image 0" descr="/home/claude/phishing_deck/icon_envelope_17C3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363931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2793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" y="4754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phishing email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97480" y="342900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42844"/>
          </a:solidFill>
          <a:ln/>
        </p:spPr>
      </p:sp>
      <p:pic>
        <p:nvPicPr>
          <p:cNvPr id="10" name="Image 1" descr="/home/claude/phishing_deck/icon_clock_17C3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3639312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42793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4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2807208" y="4754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click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link in tests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46320" y="342900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142844"/>
          </a:solidFill>
          <a:ln/>
        </p:spPr>
      </p:sp>
      <p:pic>
        <p:nvPicPr>
          <p:cNvPr id="14" name="Image 2" descr="/home/claude/phishing_deck/icon_building_17C3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3639312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42793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956048" y="4754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data breaches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after year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178040" y="1691640"/>
            <a:ext cx="4480560" cy="4160520"/>
          </a:xfrm>
          <a:prstGeom prst="roundRect">
            <a:avLst>
              <a:gd name="adj" fmla="val 2637"/>
            </a:avLst>
          </a:prstGeom>
          <a:solidFill>
            <a:srgbClr val="142844"/>
          </a:solidFill>
          <a:ln/>
        </p:spPr>
      </p:sp>
      <p:pic>
        <p:nvPicPr>
          <p:cNvPr id="18" name="Image 3" descr="/home/claude/phishing_deck/icon_spy_FFB0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011680"/>
            <a:ext cx="777240" cy="7772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820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543800" y="3017520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login credentials or credit card data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ransomware or spyware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access to a company network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financial fraud or identity theft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ATTACK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Phishing Attack Unfolds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142844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194560"/>
            <a:ext cx="822960" cy="822960"/>
          </a:xfrm>
          <a:prstGeom prst="ellipse">
            <a:avLst/>
          </a:prstGeom>
          <a:solidFill>
            <a:srgbClr val="0B1B33"/>
          </a:solidFill>
          <a:ln w="19050">
            <a:solidFill>
              <a:srgbClr val="17C3B2"/>
            </a:solidFill>
            <a:prstDash val="solid"/>
          </a:ln>
        </p:spPr>
      </p:sp>
      <p:pic>
        <p:nvPicPr>
          <p:cNvPr id="6" name="Image 0" descr="/home/claude/phishing_deck/icon_people_17C3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3591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Research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gathers info about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from social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or company sites.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1B3457"/>
          </a:solidFill>
          <a:ln/>
        </p:spPr>
      </p:sp>
      <p:sp>
        <p:nvSpPr>
          <p:cNvPr id="10" name="Shape 7"/>
          <p:cNvSpPr/>
          <p:nvPr/>
        </p:nvSpPr>
        <p:spPr>
          <a:xfrm>
            <a:off x="4320540" y="2194560"/>
            <a:ext cx="822960" cy="822960"/>
          </a:xfrm>
          <a:prstGeom prst="ellipse">
            <a:avLst/>
          </a:prstGeom>
          <a:solidFill>
            <a:srgbClr val="0B1B33"/>
          </a:solidFill>
          <a:ln w="19050">
            <a:solidFill>
              <a:srgbClr val="17C3B2"/>
            </a:solidFill>
            <a:prstDash val="solid"/>
          </a:ln>
        </p:spPr>
      </p:sp>
      <p:pic>
        <p:nvPicPr>
          <p:cNvPr id="11" name="Image 1" descr="/home/claude/phishing_deck/icon_envelope_17C3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235915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Lure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6576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convincing email, text,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message is sent,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trusted source.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9202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142844"/>
          </a:solidFill>
          <a:ln/>
        </p:spPr>
      </p:sp>
      <p:sp>
        <p:nvSpPr>
          <p:cNvPr id="15" name="Shape 11"/>
          <p:cNvSpPr/>
          <p:nvPr/>
        </p:nvSpPr>
        <p:spPr>
          <a:xfrm>
            <a:off x="7155180" y="2194560"/>
            <a:ext cx="822960" cy="822960"/>
          </a:xfrm>
          <a:prstGeom prst="ellipse">
            <a:avLst/>
          </a:prstGeom>
          <a:solidFill>
            <a:srgbClr val="0B1B33"/>
          </a:solidFill>
          <a:ln w="19050">
            <a:solidFill>
              <a:srgbClr val="17C3B2"/>
            </a:solidFill>
            <a:prstDash val="solid"/>
          </a:ln>
        </p:spPr>
      </p:sp>
      <p:pic>
        <p:nvPicPr>
          <p:cNvPr id="16" name="Image 2" descr="/home/claude/phishing_deck/icon_link_17C3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235915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Hook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36576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a link, opens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attachment, or enters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on a fake page.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92024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1B3457"/>
          </a:solidFill>
          <a:ln/>
        </p:spPr>
      </p:sp>
      <p:sp>
        <p:nvSpPr>
          <p:cNvPr id="20" name="Shape 15"/>
          <p:cNvSpPr/>
          <p:nvPr/>
        </p:nvSpPr>
        <p:spPr>
          <a:xfrm>
            <a:off x="9989820" y="2194560"/>
            <a:ext cx="822960" cy="822960"/>
          </a:xfrm>
          <a:prstGeom prst="ellipse">
            <a:avLst/>
          </a:prstGeom>
          <a:solidFill>
            <a:srgbClr val="0B1B33"/>
          </a:solidFill>
          <a:ln w="19050">
            <a:solidFill>
              <a:srgbClr val="17C3B2"/>
            </a:solidFill>
            <a:prstDash val="solid"/>
          </a:ln>
        </p:spPr>
      </p:sp>
      <p:pic>
        <p:nvPicPr>
          <p:cNvPr id="21" name="Image 3" descr="/home/claude/phishing_deck/icon_key_17C3B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235915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2004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Catch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0" y="36576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captures data,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malware, or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network access.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172968" y="23317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6007608" y="23317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8842248" y="23317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VARIANTS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Types of Phishing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42844"/>
          </a:solidFill>
          <a:ln/>
        </p:spPr>
      </p:sp>
      <p:pic>
        <p:nvPicPr>
          <p:cNvPr id="5" name="Image 0" descr="/home/claude/phishing_deck/icon_envelope_FFB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92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sent to thousands, impersonating banks, delivery services, or well-known brands.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69164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42844"/>
          </a:solidFill>
          <a:ln/>
        </p:spPr>
      </p:sp>
      <p:pic>
        <p:nvPicPr>
          <p:cNvPr id="9" name="Image 1" descr="/home/claude/phishing_deck/icon_people_FFB0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9202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892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17720" y="24688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 aimed at one specific person, using personal or company details.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0" y="169164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42844"/>
          </a:solidFill>
          <a:ln/>
        </p:spPr>
      </p:sp>
      <p:pic>
        <p:nvPicPr>
          <p:cNvPr id="13" name="Image 2" descr="/home/claude/phishing_deck/icon_building_FFB0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9202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52560" y="1892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458200" y="24688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or senior leaders to authorize fraudulent payments.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42844"/>
          </a:solidFill>
          <a:ln/>
        </p:spPr>
      </p:sp>
      <p:pic>
        <p:nvPicPr>
          <p:cNvPr id="17" name="Image 3" descr="/home/claude/phishing_deck/icon_mobile_FFB0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148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087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77240" y="46634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carried out via SMS text messages, often with urgent delivery or account alerts.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89120" y="38862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42844"/>
          </a:solidFill>
          <a:ln/>
        </p:spPr>
      </p:sp>
      <p:pic>
        <p:nvPicPr>
          <p:cNvPr id="21" name="Image 4" descr="/home/claude/phishing_deck/icon_phone_FFB0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1148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12080" y="4087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17720" y="46634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— a phone call from someone posing as tech support, a bank, or the IRS.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229600" y="38862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42844"/>
          </a:solidFill>
          <a:ln/>
        </p:spPr>
      </p:sp>
      <p:pic>
        <p:nvPicPr>
          <p:cNvPr id="25" name="Image 5" descr="/home/claude/phishing_deck/icon_globe_FFB02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11480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52560" y="4087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458200" y="46634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previously delivered legitimate email is copied and resent with a malicious link swapped in.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BAIT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in a Phishing Email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1B34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6035040" cy="5029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security-alert@paypa1-support.com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Urgent!! Your account will be suspended in 24 hours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5577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Click the link below immediately to verify your identity or your account will be permanently suspended.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http://paypal-verify-account.secure-login.ru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24 hours to comply.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Security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21031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("Valued Customer") instead of your name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threatening language pressuring quick action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 is misspelled ("paypa1" not "paypal")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 domain unrelated to the real company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grammar, odd punctuation, or spelling mistakes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⚠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to "verify" sensitive info via a link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BEFORE YOU CLICK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Websites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24912" cy="4114800"/>
          </a:xfrm>
          <a:prstGeom prst="roundRect">
            <a:avLst>
              <a:gd name="adj" fmla="val 3356"/>
            </a:avLst>
          </a:prstGeom>
          <a:solidFill>
            <a:srgbClr val="142844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" y="2057400"/>
            <a:ext cx="731520" cy="731520"/>
          </a:xfrm>
          <a:prstGeom prst="ellipse">
            <a:avLst/>
          </a:prstGeom>
          <a:solidFill>
            <a:srgbClr val="0B1B33"/>
          </a:solidFill>
          <a:ln w="15875">
            <a:solidFill>
              <a:srgbClr val="17C3B2"/>
            </a:solidFill>
            <a:prstDash val="solid"/>
          </a:ln>
        </p:spPr>
      </p:sp>
      <p:pic>
        <p:nvPicPr>
          <p:cNvPr id="6" name="Image 0" descr="/home/claude/phishing_deck/icon_link_17C3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037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URL Carefully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3611880"/>
            <a:ext cx="23225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misspellings, extra words, or unusual domains (e.g., "amaz0n-secure.com" instead of "amazon.com").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1783080"/>
            <a:ext cx="2724912" cy="4114800"/>
          </a:xfrm>
          <a:prstGeom prst="roundRect">
            <a:avLst>
              <a:gd name="adj" fmla="val 3356"/>
            </a:avLst>
          </a:prstGeom>
          <a:solidFill>
            <a:srgbClr val="142844"/>
          </a:solidFill>
          <a:ln/>
        </p:spPr>
      </p:sp>
      <p:sp>
        <p:nvSpPr>
          <p:cNvPr id="10" name="Shape 7"/>
          <p:cNvSpPr/>
          <p:nvPr/>
        </p:nvSpPr>
        <p:spPr>
          <a:xfrm>
            <a:off x="4407408" y="2057400"/>
            <a:ext cx="731520" cy="731520"/>
          </a:xfrm>
          <a:prstGeom prst="ellipse">
            <a:avLst/>
          </a:prstGeom>
          <a:solidFill>
            <a:srgbClr val="0B1B33"/>
          </a:solidFill>
          <a:ln w="15875">
            <a:solidFill>
              <a:srgbClr val="17C3B2"/>
            </a:solidFill>
            <a:prstDash val="solid"/>
          </a:ln>
        </p:spPr>
      </p:sp>
      <p:pic>
        <p:nvPicPr>
          <p:cNvPr id="11" name="Image 1" descr="/home/claude/phishing_deck/icon_lock_17C3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2037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9260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HTTPS — But Don’t Trust It Alone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11880" y="3611880"/>
            <a:ext cx="23225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icon means the connection is encrypted, not that the site is legitimate. Attackers use HTTPS too.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783080"/>
            <a:ext cx="2724912" cy="4114800"/>
          </a:xfrm>
          <a:prstGeom prst="roundRect">
            <a:avLst>
              <a:gd name="adj" fmla="val 3356"/>
            </a:avLst>
          </a:prstGeom>
          <a:solidFill>
            <a:srgbClr val="142844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2057400"/>
            <a:ext cx="731520" cy="731520"/>
          </a:xfrm>
          <a:prstGeom prst="ellipse">
            <a:avLst/>
          </a:prstGeom>
          <a:solidFill>
            <a:srgbClr val="0B1B33"/>
          </a:solidFill>
          <a:ln w="15875">
            <a:solidFill>
              <a:srgbClr val="17C3B2"/>
            </a:solidFill>
            <a:prstDash val="solid"/>
          </a:ln>
        </p:spPr>
      </p:sp>
      <p:pic>
        <p:nvPicPr>
          <p:cNvPr id="16" name="Image 2" descr="/home/claude/phishing_deck/icon_warning_17C3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220370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9260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Poor Design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73952" y="3611880"/>
            <a:ext cx="23225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logos, broken layouts, and inconsistent fonts can signal a hastily built fake site.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34856" y="1783080"/>
            <a:ext cx="2724912" cy="4114800"/>
          </a:xfrm>
          <a:prstGeom prst="roundRect">
            <a:avLst>
              <a:gd name="adj" fmla="val 3356"/>
            </a:avLst>
          </a:prstGeom>
          <a:solidFill>
            <a:srgbClr val="142844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31552" y="2057400"/>
            <a:ext cx="731520" cy="731520"/>
          </a:xfrm>
          <a:prstGeom prst="ellipse">
            <a:avLst/>
          </a:prstGeom>
          <a:solidFill>
            <a:srgbClr val="0B1B33"/>
          </a:solidFill>
          <a:ln w="15875">
            <a:solidFill>
              <a:srgbClr val="17C3B2"/>
            </a:solidFill>
            <a:prstDash val="solid"/>
          </a:ln>
        </p:spPr>
      </p:sp>
      <p:pic>
        <p:nvPicPr>
          <p:cNvPr id="21" name="Image 3" descr="/home/claude/phishing_deck/icon_shield_17C3B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6" y="220370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29260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Independently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36024" y="3611880"/>
            <a:ext cx="23225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type the company’s address directly into your browser instead of clicking the link.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WEAKNESS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succeeds because it exploits psychology, not just technology. Attackers rely on these emotional triggers: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42844"/>
          </a:solidFill>
          <a:ln/>
        </p:spPr>
      </p:sp>
      <p:pic>
        <p:nvPicPr>
          <p:cNvPr id="6" name="Image 0" descr="/home/claude/phishing_deck/icon_clock_FFB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1460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487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lose access" pressures victims to skip careful thinking.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22860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42844"/>
          </a:solidFill>
          <a:ln/>
        </p:spPr>
      </p:sp>
      <p:pic>
        <p:nvPicPr>
          <p:cNvPr id="10" name="Image 1" descr="/home/claude/phishing_deck/icon_building_FFB0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514600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2487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17720" y="30632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CEO, bank, or government agency to demand compliance.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22860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42844"/>
          </a:solidFill>
          <a:ln/>
        </p:spPr>
      </p:sp>
      <p:pic>
        <p:nvPicPr>
          <p:cNvPr id="14" name="Image 2" descr="/home/claude/phishing_deck/icon_people_FFB0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06840" y="248716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458200" y="30632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Posing as a coworker, friend, or familiar vendor to lower suspicion.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48056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B3457"/>
          </a:solidFill>
          <a:ln/>
        </p:spPr>
      </p:sp>
      <p:pic>
        <p:nvPicPr>
          <p:cNvPr id="18" name="Image 3" descr="/home/claude/phishing_deck/icon_question_FFB0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709160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6817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77240" y="52578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won a prize" or "See who viewed your profile" baits a click.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389120" y="448056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B3457"/>
          </a:solidFill>
          <a:ln/>
        </p:spPr>
      </p:sp>
      <p:pic>
        <p:nvPicPr>
          <p:cNvPr id="22" name="Image 4" descr="/home/claude/phishing_deck/icon_warning_FFB0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709160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46817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617720" y="52578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account suspension, fines, or legal action to trigger panic.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229600" y="448056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B3457"/>
          </a:solidFill>
          <a:ln/>
        </p:spPr>
      </p:sp>
      <p:pic>
        <p:nvPicPr>
          <p:cNvPr id="26" name="Image 5" descr="/home/claude/phishing_deck/icon_shield_FFB02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709160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06840" y="46817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8458200" y="52578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free gift or favor to make the victim feel obligated to respond.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Example: The CEO Fraud Email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09360" cy="4206240"/>
          </a:xfrm>
          <a:prstGeom prst="roundRect">
            <a:avLst>
              <a:gd name="adj" fmla="val 2609"/>
            </a:avLst>
          </a:prstGeom>
          <a:solidFill>
            <a:srgbClr val="142844"/>
          </a:solidFill>
          <a:ln/>
        </p:spPr>
      </p:sp>
      <p:pic>
        <p:nvPicPr>
          <p:cNvPr id="5" name="Image 0" descr="/home/claude/phishing_deck/icon_building_FFB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848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 (BEC)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743200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finance employee receives an email that appears to come from the company CEO, sent while the CEO is "traveling." The message urgently requests a wire transfer to a "new vendor" to close a confidential deal, and asks that it be kept quiet until the CEO returns.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of a senior executive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and confidentiality discourage questions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or lookalike email address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86600" y="173736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1B3457"/>
          </a:solidFill>
          <a:ln/>
        </p:spPr>
      </p:sp>
      <p:pic>
        <p:nvPicPr>
          <p:cNvPr id="11" name="Image 1" descr="/home/claude/phishing_deck/icon_check_17C3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11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38160" y="20848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Should Be Handled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406640" y="278892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unusual payment requests by phone, using a known number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standard approval steps regardless of urgency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email to IT/Security immediately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bypass process to keep something "confidential"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PROTECTED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to Avoid Phishing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14284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29968"/>
            <a:ext cx="585216" cy="585216"/>
          </a:xfrm>
          <a:prstGeom prst="ellipse">
            <a:avLst/>
          </a:prstGeom>
          <a:solidFill>
            <a:srgbClr val="0B1B33"/>
          </a:solidFill>
          <a:ln w="15875">
            <a:solidFill>
              <a:srgbClr val="17C3B2"/>
            </a:solidFill>
            <a:prstDash val="solid"/>
          </a:ln>
        </p:spPr>
      </p:sp>
      <p:pic>
        <p:nvPicPr>
          <p:cNvPr id="6" name="Image 0" descr="/home/claude/phishing_deck/icon_question_17C3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762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4160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question unexpected or urgent requests, even from known contacts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142844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2029968"/>
            <a:ext cx="585216" cy="585216"/>
          </a:xfrm>
          <a:prstGeom prst="ellipse">
            <a:avLst/>
          </a:prstGeom>
          <a:solidFill>
            <a:srgbClr val="0B1B33"/>
          </a:solidFill>
          <a:ln w="15875">
            <a:solidFill>
              <a:srgbClr val="17C3B2"/>
            </a:solidFill>
            <a:prstDash val="solid"/>
          </a:ln>
        </p:spPr>
      </p:sp>
      <p:pic>
        <p:nvPicPr>
          <p:cNvPr id="10" name="Image 1" descr="/home/claude/phishing_deck/icon_link_17C3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17627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828800"/>
            <a:ext cx="4160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URL before clicking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090672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142844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383280"/>
            <a:ext cx="585216" cy="585216"/>
          </a:xfrm>
          <a:prstGeom prst="ellipse">
            <a:avLst/>
          </a:prstGeom>
          <a:solidFill>
            <a:srgbClr val="0B1B33"/>
          </a:solidFill>
          <a:ln w="15875">
            <a:solidFill>
              <a:srgbClr val="17C3B2"/>
            </a:solidFill>
            <a:prstDash val="solid"/>
          </a:ln>
        </p:spPr>
      </p:sp>
      <p:pic>
        <p:nvPicPr>
          <p:cNvPr id="14" name="Image 2" descr="/home/claude/phishing_deck/icon_lock_17C3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52958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182112"/>
            <a:ext cx="4160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on every account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72200" y="3090672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142844"/>
          </a:solidFill>
          <a:ln/>
        </p:spPr>
      </p:sp>
      <p:sp>
        <p:nvSpPr>
          <p:cNvPr id="17" name="Shape 12"/>
          <p:cNvSpPr/>
          <p:nvPr/>
        </p:nvSpPr>
        <p:spPr>
          <a:xfrm>
            <a:off x="6400800" y="3383280"/>
            <a:ext cx="585216" cy="585216"/>
          </a:xfrm>
          <a:prstGeom prst="ellipse">
            <a:avLst/>
          </a:prstGeom>
          <a:solidFill>
            <a:srgbClr val="0B1B33"/>
          </a:solidFill>
          <a:ln w="15875">
            <a:solidFill>
              <a:srgbClr val="17C3B2"/>
            </a:solidFill>
            <a:prstDash val="solid"/>
          </a:ln>
        </p:spPr>
      </p:sp>
      <p:pic>
        <p:nvPicPr>
          <p:cNvPr id="18" name="Image 3" descr="/home/claude/phishing_deck/icon_shield_17C3B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52958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3182112"/>
            <a:ext cx="4160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software, browsers, and antivirus tools up to date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443984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142844"/>
          </a:solidFill>
          <a:ln/>
        </p:spPr>
      </p:sp>
      <p:sp>
        <p:nvSpPr>
          <p:cNvPr id="21" name="Shape 15"/>
          <p:cNvSpPr/>
          <p:nvPr/>
        </p:nvSpPr>
        <p:spPr>
          <a:xfrm>
            <a:off x="777240" y="4736592"/>
            <a:ext cx="585216" cy="585216"/>
          </a:xfrm>
          <a:prstGeom prst="ellipse">
            <a:avLst/>
          </a:prstGeom>
          <a:solidFill>
            <a:srgbClr val="0B1B33"/>
          </a:solidFill>
          <a:ln w="15875">
            <a:solidFill>
              <a:srgbClr val="17C3B2"/>
            </a:solidFill>
            <a:prstDash val="solid"/>
          </a:ln>
        </p:spPr>
      </p:sp>
      <p:pic>
        <p:nvPicPr>
          <p:cNvPr id="22" name="Image 4" descr="/home/claude/phishing_deck/icon_envelope_17C3B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88289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535424"/>
            <a:ext cx="4160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unusual requests through a separate, trusted channel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172200" y="4443984"/>
            <a:ext cx="5349240" cy="1170432"/>
          </a:xfrm>
          <a:prstGeom prst="roundRect">
            <a:avLst>
              <a:gd name="adj" fmla="val 7813"/>
            </a:avLst>
          </a:prstGeom>
          <a:solidFill>
            <a:srgbClr val="142844"/>
          </a:solidFill>
          <a:ln/>
        </p:spPr>
      </p:sp>
      <p:sp>
        <p:nvSpPr>
          <p:cNvPr id="25" name="Shape 18"/>
          <p:cNvSpPr/>
          <p:nvPr/>
        </p:nvSpPr>
        <p:spPr>
          <a:xfrm>
            <a:off x="6400800" y="4736592"/>
            <a:ext cx="585216" cy="585216"/>
          </a:xfrm>
          <a:prstGeom prst="ellipse">
            <a:avLst/>
          </a:prstGeom>
          <a:solidFill>
            <a:srgbClr val="0B1B33"/>
          </a:solidFill>
          <a:ln w="15875">
            <a:solidFill>
              <a:srgbClr val="17C3B2"/>
            </a:solidFill>
            <a:prstDash val="solid"/>
          </a:ln>
        </p:spPr>
      </p:sp>
      <p:pic>
        <p:nvPicPr>
          <p:cNvPr id="26" name="Image 5" descr="/home/claude/phishing_deck/icon_warning_17C3B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882896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78040" y="4535424"/>
            <a:ext cx="41605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IT/Security instead of just deleting them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Quiz: Can You Spot the Phish?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2844"/>
          </a:solidFill>
          <a:ln/>
        </p:spPr>
      </p:sp>
      <p:pic>
        <p:nvPicPr>
          <p:cNvPr id="5" name="Image 0" descr="/home/claude/phishing_deck/icon_question_FFB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 email from "support@micros0ft-helpdesk.com" asks you to reset your password now. What do you do?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240487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click. Check the sender domain — the zero in "micros0ft" is a red flag. Go to the real site directly.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2844"/>
          </a:solidFill>
          <a:ln/>
        </p:spPr>
      </p:sp>
      <p:pic>
        <p:nvPicPr>
          <p:cNvPr id="9" name="Image 1" descr="/home/claude/phishing_deck/icon_question_FFB0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83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9184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text message says you’ve won a prize and must click a link within 10 minutes to claim it. Legit or phishing?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417320" y="382219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Phishing. Urgency + unexpected prize + link = classic smishing pattern.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6177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2844"/>
          </a:solidFill>
          <a:ln/>
        </p:spPr>
      </p:sp>
      <p:pic>
        <p:nvPicPr>
          <p:cNvPr id="13" name="Image 2" descr="/home/claude/phishing_deck/icon_question_FFB0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00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70916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Your "CEO" emails asking for gift cards to be purchased urgently and kept confidential. What’s the right move?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417320" y="523951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by phone through a known number before taking any action — this is a classic BEC scam.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42844"/>
          </a:solidFill>
          <a:ln/>
        </p:spPr>
      </p:sp>
      <p:pic>
        <p:nvPicPr>
          <p:cNvPr id="3" name="Image 0" descr="/home/claude/phishing_deck/icon_shield_17C3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514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Alert. Stay Secure.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don’t click — verify first. One careful moment can stop an entire attack.</a:t>
            </a:r>
            <a:endParaRPr lang="en-US" sz="1500" dirty="0"/>
          </a:p>
        </p:txBody>
      </p:sp>
      <p:pic>
        <p:nvPicPr>
          <p:cNvPr id="6" name="Image 1" descr="/home/claude/phishing_deck/icon_check_17C3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148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4069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</a:t>
            </a:r>
            <a:endParaRPr lang="en-US" sz="1400" dirty="0"/>
          </a:p>
        </p:txBody>
      </p:sp>
      <p:pic>
        <p:nvPicPr>
          <p:cNvPr id="8" name="Image 2" descr="/home/claude/phishing_deck/icon_check_17C3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1772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4572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unexpected requests</a:t>
            </a:r>
            <a:endParaRPr lang="en-US" sz="1400" dirty="0"/>
          </a:p>
        </p:txBody>
      </p:sp>
      <p:pic>
        <p:nvPicPr>
          <p:cNvPr id="10" name="Image 3" descr="/home/claude/phishing_deck/icon_check_17C3B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2064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5074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2026-08-20T18:28:56Z</dcterms:created>
  <dcterms:modified xsi:type="dcterms:W3CDTF">2026-08-20T18:28:56Z</dcterms:modified>
</cp:coreProperties>
</file>